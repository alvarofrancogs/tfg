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Playfair Display"/>
      <p:regular r:id="rId21"/>
      <p:bold r:id="rId22"/>
      <p:italic r:id="rId23"/>
      <p:boldItalic r:id="rId24"/>
    </p:embeddedFont>
    <p:embeddedFont>
      <p:font typeface="Inter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idcOIXsOPRvlrzUj6gguWS+WSv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layfairDisplay-bold.fntdata"/><Relationship Id="rId21" Type="http://schemas.openxmlformats.org/officeDocument/2006/relationships/font" Target="fonts/PlayfairDisplay-regular.fntdata"/><Relationship Id="rId24" Type="http://schemas.openxmlformats.org/officeDocument/2006/relationships/font" Target="fonts/PlayfairDisplay-boldItalic.fntdata"/><Relationship Id="rId23" Type="http://schemas.openxmlformats.org/officeDocument/2006/relationships/font" Target="fonts/PlayfairDisplay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0" name="Google Shape;27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4" name="Google Shape;29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8" name="Google Shape;31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8" name="Google Shape;33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0" name="Google Shape;37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0" name="Google Shape;39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4" name="Google Shape;41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132320" y="0"/>
            <a:ext cx="5059375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31520" y="54864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B2118"/>
                </a:solidFill>
                <a:latin typeface="Inter"/>
                <a:ea typeface="Inter"/>
                <a:cs typeface="Inter"/>
                <a:sym typeface="Inter"/>
              </a:rPr>
              <a:t>OASIS</a:t>
            </a:r>
            <a:r>
              <a:rPr b="1" i="0" lang="en-US" sz="1800" u="none" cap="none" strike="noStrike">
                <a:solidFill>
                  <a:srgbClr val="0B2118"/>
                </a:solidFill>
                <a:latin typeface="Inter"/>
                <a:ea typeface="Inter"/>
                <a:cs typeface="Inter"/>
                <a:sym typeface="Inter"/>
              </a:rPr>
              <a:t>CLUB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731520" y="1280160"/>
            <a:ext cx="548640" cy="9525"/>
          </a:xfrm>
          <a:prstGeom prst="rect">
            <a:avLst/>
          </a:prstGeom>
          <a:solidFill>
            <a:srgbClr val="0B21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731520" y="21031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TRABAJO FIN DE GRADO  · 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731520" y="2606040"/>
            <a:ext cx="7315200" cy="1402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en-US" sz="4500" u="none" cap="none" strike="noStrike">
                <a:solidFill>
                  <a:srgbClr val="11182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Plataforma digital para</a:t>
            </a:r>
            <a:endParaRPr b="0" i="0" sz="4500" u="none" cap="none" strike="noStrike">
              <a:solidFill>
                <a:srgbClr val="11182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1" lang="en-US" sz="45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clubes deportivos.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731520" y="466344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Reservas, eventos y gestión integral en una sola experiencia premium.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98079" y="21031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AUTORES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98079" y="2468880"/>
            <a:ext cx="4114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Álvaro Franco García-Servet</a:t>
            </a:r>
            <a:endParaRPr b="0" i="0" sz="2200" u="none" cap="none" strike="noStrike">
              <a:solidFill>
                <a:srgbClr val="0B2118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498079" y="2971800"/>
            <a:ext cx="4114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Backend  ·  Base de datos  ·  Seguridad  ·  Despliegue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7498079" y="3520440"/>
            <a:ext cx="1828800" cy="9525"/>
          </a:xfrm>
          <a:prstGeom prst="rect">
            <a:avLst/>
          </a:prstGeom>
          <a:solidFill>
            <a:srgbClr val="B897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498079" y="3703320"/>
            <a:ext cx="4114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Emilio Benitez Lozano</a:t>
            </a:r>
            <a:endParaRPr b="0" i="0" sz="2200" u="none" cap="none" strike="noStrike">
              <a:solidFill>
                <a:srgbClr val="0B2118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7498079" y="4206240"/>
            <a:ext cx="4114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Frontend  ·  Diseño  ·  </a:t>
            </a:r>
            <a:r>
              <a:rPr b="0" i="1" lang="en-US" sz="11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Experiencia  </a:t>
            </a:r>
            <a:r>
              <a:rPr i="1" lang="en-US" sz="11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·  Testing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7498079" y="58064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TITULACIÓN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7498079" y="61264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Desarrollo de Aplicaciones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ÍNDICE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731520" y="1005840"/>
            <a:ext cx="9144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11182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La hoja 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1" lang="en-US" sz="42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ruta.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731520" y="310896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1371600" y="31089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El problema y la oportunidad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731520" y="388620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1371600" y="38862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Análisis de la competencia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731520" y="466344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1371600" y="46634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Solución: Oasis Club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731520" y="544068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1371600" y="54406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Experiencia del socio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731520" y="621792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1371600" y="62179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Panel de administración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6400800" y="310896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7040880" y="31089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Arquitectura técnica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6400800" y="388620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7040880" y="38862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Stack tecnológico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6400800" y="466344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7040880" y="46634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Seguridad y notificaciones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6400800" y="544068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7040880" y="54406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Aprendizajes y 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02 / 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6858000" y="0"/>
            <a:ext cx="5333695" cy="6858000"/>
          </a:xfrm>
          <a:prstGeom prst="rect">
            <a:avLst/>
          </a:prstGeom>
          <a:solidFill>
            <a:srgbClr val="0B21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01  ·  CONTEXTO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731520" y="1097280"/>
            <a:ext cx="6400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n-US" sz="3800" u="none" cap="none" strike="noStrike">
                <a:solidFill>
                  <a:srgbClr val="11182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El problema 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1" lang="en-US" sz="38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queremos resolver.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731520" y="3749040"/>
            <a:ext cx="365760" cy="9525"/>
          </a:xfrm>
          <a:prstGeom prst="rect">
            <a:avLst/>
          </a:prstGeom>
          <a:solidFill>
            <a:srgbClr val="B897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1280160" y="365760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Gestión manual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1280160" y="4069080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Muchos clubes pequeños siguen usando WhatsApp, hojas de cálculo y reservas por teléfono.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731520" y="4709160"/>
            <a:ext cx="365760" cy="9525"/>
          </a:xfrm>
          <a:prstGeom prst="rect">
            <a:avLst/>
          </a:prstGeom>
          <a:solidFill>
            <a:srgbClr val="B897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1280160" y="46177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Sin presencia digital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1280160" y="5029200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No existe una experiencia online a la altura del servicio que ofrecen sus instalaciones.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731520" y="5669280"/>
            <a:ext cx="365760" cy="9525"/>
          </a:xfrm>
          <a:prstGeom prst="rect">
            <a:avLst/>
          </a:prstGeom>
          <a:solidFill>
            <a:srgbClr val="B897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1280160" y="557784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Cobro inseguro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1280160" y="5989320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Pagos en efectivo, transferencias o app de terceros, sin trazabilidad ni reembolso ágil.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"/>
          <p:cNvSpPr txBox="1"/>
          <p:nvPr/>
        </p:nvSpPr>
        <p:spPr>
          <a:xfrm>
            <a:off x="7315200" y="228600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EL DATO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"/>
          <p:cNvSpPr txBox="1"/>
          <p:nvPr/>
        </p:nvSpPr>
        <p:spPr>
          <a:xfrm>
            <a:off x="7315200" y="2743200"/>
            <a:ext cx="4389000" cy="19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7</a:t>
            </a:r>
            <a:r>
              <a:rPr lang="en-US" sz="80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5</a:t>
            </a:r>
            <a:r>
              <a:rPr b="0" i="0" lang="en-US" sz="80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es el porcentaje aproximado </a:t>
            </a:r>
            <a:r>
              <a:rPr b="0" i="0" lang="en-US" sz="13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de los clubes deportivos locales </a:t>
            </a: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que </a:t>
            </a:r>
            <a:r>
              <a:rPr b="0" i="0" lang="en-US" sz="13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operan</a:t>
            </a:r>
            <a:r>
              <a:rPr lang="en-US"/>
              <a:t> </a:t>
            </a:r>
            <a:r>
              <a:rPr b="0" i="1" lang="en-US" sz="13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sin una plataforma digital integrada.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03 / 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7"/>
          <p:cNvSpPr txBox="1"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02  ·  COMPETENCIA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7"/>
          <p:cNvSpPr txBox="1"/>
          <p:nvPr/>
        </p:nvSpPr>
        <p:spPr>
          <a:xfrm>
            <a:off x="731520" y="1097280"/>
            <a:ext cx="10058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11182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Lo que ya existe,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1" lang="en-US" sz="42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y por qué no basta.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7"/>
          <p:cNvSpPr txBox="1"/>
          <p:nvPr/>
        </p:nvSpPr>
        <p:spPr>
          <a:xfrm>
            <a:off x="731520" y="329184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Tres soluciones dominan el sector del deporte amateur, pero cada una cubre solo una parte de lo que un club necesita.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7"/>
          <p:cNvSpPr/>
          <p:nvPr/>
        </p:nvSpPr>
        <p:spPr>
          <a:xfrm>
            <a:off x="731520" y="4400000"/>
            <a:ext cx="457200" cy="9525"/>
          </a:xfrm>
          <a:prstGeom prst="rect">
            <a:avLst/>
          </a:prstGeom>
          <a:solidFill>
            <a:srgbClr val="0B21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7"/>
          <p:cNvSpPr txBox="1"/>
          <p:nvPr/>
        </p:nvSpPr>
        <p:spPr>
          <a:xfrm>
            <a:off x="731520" y="4520000"/>
            <a:ext cx="33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Playtomic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7"/>
          <p:cNvSpPr txBox="1"/>
          <p:nvPr/>
        </p:nvSpPr>
        <p:spPr>
          <a:xfrm>
            <a:off x="731520" y="4980000"/>
            <a:ext cx="33000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La app de reservas más conocida del sector pádel.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7"/>
          <p:cNvSpPr txBox="1"/>
          <p:nvPr/>
        </p:nvSpPr>
        <p:spPr>
          <a:xfrm>
            <a:off x="731520" y="5440000"/>
            <a:ext cx="330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EL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7"/>
          <p:cNvSpPr txBox="1"/>
          <p:nvPr/>
        </p:nvSpPr>
        <p:spPr>
          <a:xfrm>
            <a:off x="731520" y="5690000"/>
            <a:ext cx="330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0B2118"/>
                </a:solidFill>
                <a:latin typeface="Inter"/>
                <a:ea typeface="Inter"/>
                <a:cs typeface="Inter"/>
                <a:sym typeface="Inter"/>
              </a:rPr>
              <a:t>Cobra comisión por reserva y expone tus socios a otros clubes de su plataforma.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7"/>
          <p:cNvSpPr/>
          <p:nvPr/>
        </p:nvSpPr>
        <p:spPr>
          <a:xfrm>
            <a:off x="4445847" y="4400000"/>
            <a:ext cx="457200" cy="9525"/>
          </a:xfrm>
          <a:prstGeom prst="rect">
            <a:avLst/>
          </a:prstGeom>
          <a:solidFill>
            <a:srgbClr val="0B21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7"/>
          <p:cNvSpPr txBox="1"/>
          <p:nvPr/>
        </p:nvSpPr>
        <p:spPr>
          <a:xfrm>
            <a:off x="4445847" y="4520000"/>
            <a:ext cx="33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Apps de gimnasio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7"/>
          <p:cNvSpPr txBox="1"/>
          <p:nvPr/>
        </p:nvSpPr>
        <p:spPr>
          <a:xfrm>
            <a:off x="4445847" y="4980000"/>
            <a:ext cx="33000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Buena gestión interna: asistencia, rutinas y accesos.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7"/>
          <p:cNvSpPr txBox="1"/>
          <p:nvPr/>
        </p:nvSpPr>
        <p:spPr>
          <a:xfrm>
            <a:off x="4445847" y="5440000"/>
            <a:ext cx="330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EL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7"/>
          <p:cNvSpPr txBox="1"/>
          <p:nvPr/>
        </p:nvSpPr>
        <p:spPr>
          <a:xfrm>
            <a:off x="4445847" y="5690000"/>
            <a:ext cx="330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0B2118"/>
                </a:solidFill>
                <a:latin typeface="Inter"/>
                <a:ea typeface="Inter"/>
                <a:cs typeface="Inter"/>
                <a:sym typeface="Inter"/>
              </a:rPr>
              <a:t>Sin web pública: el club no tiene marca ni presencia digital propia.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7"/>
          <p:cNvSpPr/>
          <p:nvPr/>
        </p:nvSpPr>
        <p:spPr>
          <a:xfrm>
            <a:off x="8160174" y="4400000"/>
            <a:ext cx="457200" cy="9525"/>
          </a:xfrm>
          <a:prstGeom prst="rect">
            <a:avLst/>
          </a:prstGeom>
          <a:solidFill>
            <a:srgbClr val="0B21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7"/>
          <p:cNvSpPr txBox="1"/>
          <p:nvPr/>
        </p:nvSpPr>
        <p:spPr>
          <a:xfrm>
            <a:off x="8160174" y="4520000"/>
            <a:ext cx="33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Padel Around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7"/>
          <p:cNvSpPr txBox="1"/>
          <p:nvPr/>
        </p:nvSpPr>
        <p:spPr>
          <a:xfrm>
            <a:off x="8160174" y="4980000"/>
            <a:ext cx="33000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Red social para jugadores: nivel, partidas y geolocalización.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7"/>
          <p:cNvSpPr txBox="1"/>
          <p:nvPr/>
        </p:nvSpPr>
        <p:spPr>
          <a:xfrm>
            <a:off x="8160174" y="5440000"/>
            <a:ext cx="330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EL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7"/>
          <p:cNvSpPr txBox="1"/>
          <p:nvPr/>
        </p:nvSpPr>
        <p:spPr>
          <a:xfrm>
            <a:off x="8160174" y="5690000"/>
            <a:ext cx="330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0B2118"/>
                </a:solidFill>
                <a:latin typeface="Inter"/>
                <a:ea typeface="Inter"/>
                <a:cs typeface="Inter"/>
                <a:sym typeface="Inter"/>
              </a:rPr>
              <a:t>Pensada para la comunidad de jugadores, no para gestionar ni vender el club.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04 / 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 txBox="1"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03  ·  PROPUESTA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4"/>
          <p:cNvSpPr txBox="1"/>
          <p:nvPr/>
        </p:nvSpPr>
        <p:spPr>
          <a:xfrm>
            <a:off x="731520" y="1097280"/>
            <a:ext cx="10058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11182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Oasis Club, una plataforma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1" lang="en-US" sz="42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completa y elegante.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"/>
          <p:cNvSpPr txBox="1"/>
          <p:nvPr/>
        </p:nvSpPr>
        <p:spPr>
          <a:xfrm>
            <a:off x="731520" y="329184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Una experiencia web premium que digitaliza por completo la operativa de un club deportivo: desde la primera visita del socio hasta la gestión interna del administrador.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731520" y="4754880"/>
            <a:ext cx="457200" cy="9525"/>
          </a:xfrm>
          <a:prstGeom prst="rect">
            <a:avLst/>
          </a:prstGeom>
          <a:solidFill>
            <a:srgbClr val="0B21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 txBox="1"/>
          <p:nvPr/>
        </p:nvSpPr>
        <p:spPr>
          <a:xfrm>
            <a:off x="731520" y="489204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1" lang="en-US" sz="22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Reserva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4"/>
          <p:cNvSpPr txBox="1"/>
          <p:nvPr/>
        </p:nvSpPr>
        <p:spPr>
          <a:xfrm>
            <a:off x="731520" y="55321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de pistas y horarios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3291840" y="4754880"/>
            <a:ext cx="457200" cy="9525"/>
          </a:xfrm>
          <a:prstGeom prst="rect">
            <a:avLst/>
          </a:prstGeom>
          <a:solidFill>
            <a:srgbClr val="0B21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 txBox="1"/>
          <p:nvPr/>
        </p:nvSpPr>
        <p:spPr>
          <a:xfrm>
            <a:off x="3291840" y="489204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1" lang="en-US" sz="22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4"/>
          <p:cNvSpPr txBox="1"/>
          <p:nvPr/>
        </p:nvSpPr>
        <p:spPr>
          <a:xfrm>
            <a:off x="3291840" y="55321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online seguro vía Stripe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5852160" y="4754880"/>
            <a:ext cx="457200" cy="9525"/>
          </a:xfrm>
          <a:prstGeom prst="rect">
            <a:avLst/>
          </a:prstGeom>
          <a:solidFill>
            <a:srgbClr val="0B21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 txBox="1"/>
          <p:nvPr/>
        </p:nvSpPr>
        <p:spPr>
          <a:xfrm>
            <a:off x="5852160" y="489204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1" lang="en-US" sz="22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Gestión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4"/>
          <p:cNvSpPr txBox="1"/>
          <p:nvPr/>
        </p:nvSpPr>
        <p:spPr>
          <a:xfrm>
            <a:off x="5852160" y="55321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completa para el admin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8412480" y="4754880"/>
            <a:ext cx="457200" cy="9525"/>
          </a:xfrm>
          <a:prstGeom prst="rect">
            <a:avLst/>
          </a:prstGeom>
          <a:solidFill>
            <a:srgbClr val="0B21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 txBox="1"/>
          <p:nvPr/>
        </p:nvSpPr>
        <p:spPr>
          <a:xfrm>
            <a:off x="8412480" y="489204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1" lang="en-US" sz="22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Comunidad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"/>
          <p:cNvSpPr txBox="1"/>
          <p:nvPr/>
        </p:nvSpPr>
        <p:spPr>
          <a:xfrm>
            <a:off x="8412480" y="55321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eventos, gimnasio y newsletter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05 / 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"/>
          <p:cNvSpPr/>
          <p:nvPr/>
        </p:nvSpPr>
        <p:spPr>
          <a:xfrm>
            <a:off x="35408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B21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914400" y="640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04  ·  EXPERIENCIA SOCIO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5"/>
          <p:cNvSpPr txBox="1"/>
          <p:nvPr/>
        </p:nvSpPr>
        <p:spPr>
          <a:xfrm>
            <a:off x="914400" y="1097280"/>
            <a:ext cx="10058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11182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Para el socio del club: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1" lang="en-US" sz="36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todo en pocos clics.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914400" y="32004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"/>
          <p:cNvSpPr txBox="1"/>
          <p:nvPr/>
        </p:nvSpPr>
        <p:spPr>
          <a:xfrm>
            <a:off x="914400" y="34290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Reservas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5"/>
          <p:cNvSpPr txBox="1"/>
          <p:nvPr/>
        </p:nvSpPr>
        <p:spPr>
          <a:xfrm>
            <a:off x="914400" y="388620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Calendario interactivo con disponibilidad en tiempo real, selección de horario y deporte.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5"/>
          <p:cNvSpPr txBox="1"/>
          <p:nvPr/>
        </p:nvSpPr>
        <p:spPr>
          <a:xfrm>
            <a:off x="4572000" y="32004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5"/>
          <p:cNvSpPr txBox="1"/>
          <p:nvPr/>
        </p:nvSpPr>
        <p:spPr>
          <a:xfrm>
            <a:off x="4572000" y="34290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Pago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5"/>
          <p:cNvSpPr txBox="1"/>
          <p:nvPr/>
        </p:nvSpPr>
        <p:spPr>
          <a:xfrm>
            <a:off x="4572000" y="388620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Integración con Stripe Checkout: tarjetas, reembolsos automáticos y emails de confirmación.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5"/>
          <p:cNvSpPr txBox="1"/>
          <p:nvPr/>
        </p:nvSpPr>
        <p:spPr>
          <a:xfrm>
            <a:off x="8229600" y="32004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5"/>
          <p:cNvSpPr txBox="1"/>
          <p:nvPr/>
        </p:nvSpPr>
        <p:spPr>
          <a:xfrm>
            <a:off x="8229600" y="34290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Eventos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5"/>
          <p:cNvSpPr txBox="1"/>
          <p:nvPr/>
        </p:nvSpPr>
        <p:spPr>
          <a:xfrm>
            <a:off x="8229600" y="388620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Inscripción en torneos y masterclasses, con bloqueo automático de pistas.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5"/>
          <p:cNvSpPr txBox="1"/>
          <p:nvPr/>
        </p:nvSpPr>
        <p:spPr>
          <a:xfrm>
            <a:off x="914400" y="45720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5"/>
          <p:cNvSpPr txBox="1"/>
          <p:nvPr/>
        </p:nvSpPr>
        <p:spPr>
          <a:xfrm>
            <a:off x="914400" y="4800600"/>
            <a:ext cx="320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Rutinas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5"/>
          <p:cNvSpPr txBox="1"/>
          <p:nvPr/>
        </p:nvSpPr>
        <p:spPr>
          <a:xfrm>
            <a:off x="914400" y="525780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Rutina personal editable: días, ejercicios, series y descansos guardados en su perfil.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5"/>
          <p:cNvSpPr txBox="1"/>
          <p:nvPr/>
        </p:nvSpPr>
        <p:spPr>
          <a:xfrm>
            <a:off x="4572000" y="45720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5"/>
          <p:cNvSpPr txBox="1"/>
          <p:nvPr/>
        </p:nvSpPr>
        <p:spPr>
          <a:xfrm>
            <a:off x="4572000" y="48006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Mi área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5"/>
          <p:cNvSpPr txBox="1"/>
          <p:nvPr/>
        </p:nvSpPr>
        <p:spPr>
          <a:xfrm>
            <a:off x="4572000" y="525780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Historial de reservas, datos personales, suscripción al newsletter.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5"/>
          <p:cNvSpPr txBox="1"/>
          <p:nvPr/>
        </p:nvSpPr>
        <p:spPr>
          <a:xfrm>
            <a:off x="8229600" y="45720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5"/>
          <p:cNvSpPr txBox="1"/>
          <p:nvPr/>
        </p:nvSpPr>
        <p:spPr>
          <a:xfrm>
            <a:off x="8229600" y="48006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Recuperación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5"/>
          <p:cNvSpPr txBox="1"/>
          <p:nvPr/>
        </p:nvSpPr>
        <p:spPr>
          <a:xfrm>
            <a:off x="8229600" y="525780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Restablecimiento de contraseña por email con tokens seguros y expiración.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5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06 / 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B21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 txBox="1"/>
          <p:nvPr/>
        </p:nvSpPr>
        <p:spPr>
          <a:xfrm>
            <a:off x="914400" y="640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05  ·  PANEL ADMIN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6"/>
          <p:cNvSpPr txBox="1"/>
          <p:nvPr/>
        </p:nvSpPr>
        <p:spPr>
          <a:xfrm>
            <a:off x="914400" y="1097280"/>
            <a:ext cx="10058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11182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Para el club: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1" lang="en-US" sz="36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control y operativa.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6"/>
          <p:cNvSpPr txBox="1"/>
          <p:nvPr/>
        </p:nvSpPr>
        <p:spPr>
          <a:xfrm>
            <a:off x="914400" y="32004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6"/>
          <p:cNvSpPr txBox="1"/>
          <p:nvPr/>
        </p:nvSpPr>
        <p:spPr>
          <a:xfrm>
            <a:off x="914400" y="34290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Reservas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6"/>
          <p:cNvSpPr txBox="1"/>
          <p:nvPr/>
        </p:nvSpPr>
        <p:spPr>
          <a:xfrm>
            <a:off x="914400" y="388620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Vista agenda + calendario, búsqueda, filtros, eliminación con reembolso automático.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6"/>
          <p:cNvSpPr txBox="1"/>
          <p:nvPr/>
        </p:nvSpPr>
        <p:spPr>
          <a:xfrm>
            <a:off x="4572000" y="32004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6"/>
          <p:cNvSpPr txBox="1"/>
          <p:nvPr/>
        </p:nvSpPr>
        <p:spPr>
          <a:xfrm>
            <a:off x="4572000" y="34290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Mantenimiento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6"/>
          <p:cNvSpPr txBox="1"/>
          <p:nvPr/>
        </p:nvSpPr>
        <p:spPr>
          <a:xfrm>
            <a:off x="4572000" y="388620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Bloqueo de franjas con notificación + reembolso automático a los afectados.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6"/>
          <p:cNvSpPr txBox="1"/>
          <p:nvPr/>
        </p:nvSpPr>
        <p:spPr>
          <a:xfrm>
            <a:off x="8229600" y="32004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6"/>
          <p:cNvSpPr txBox="1"/>
          <p:nvPr/>
        </p:nvSpPr>
        <p:spPr>
          <a:xfrm>
            <a:off x="8229600" y="34290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Clientes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6"/>
          <p:cNvSpPr txBox="1"/>
          <p:nvPr/>
        </p:nvSpPr>
        <p:spPr>
          <a:xfrm>
            <a:off x="8229600" y="388620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Alta de socios, búsqueda, baja de cuenta. Welcome email automático.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6"/>
          <p:cNvSpPr txBox="1"/>
          <p:nvPr/>
        </p:nvSpPr>
        <p:spPr>
          <a:xfrm>
            <a:off x="914400" y="45720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6"/>
          <p:cNvSpPr txBox="1"/>
          <p:nvPr/>
        </p:nvSpPr>
        <p:spPr>
          <a:xfrm>
            <a:off x="914400" y="48006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Pistas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6"/>
          <p:cNvSpPr txBox="1"/>
          <p:nvPr/>
        </p:nvSpPr>
        <p:spPr>
          <a:xfrm>
            <a:off x="914400" y="525780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Gestión de instalaciones con activación / desactivación dinámica.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6"/>
          <p:cNvSpPr txBox="1"/>
          <p:nvPr/>
        </p:nvSpPr>
        <p:spPr>
          <a:xfrm>
            <a:off x="4572000" y="45720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6"/>
          <p:cNvSpPr txBox="1"/>
          <p:nvPr/>
        </p:nvSpPr>
        <p:spPr>
          <a:xfrm>
            <a:off x="4572000" y="48006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Eventos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6"/>
          <p:cNvSpPr txBox="1"/>
          <p:nvPr/>
        </p:nvSpPr>
        <p:spPr>
          <a:xfrm>
            <a:off x="4572000" y="525780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Creación de torneos y ligas. Notificación automática a suscriptores del newsletter.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6"/>
          <p:cNvSpPr txBox="1"/>
          <p:nvPr/>
        </p:nvSpPr>
        <p:spPr>
          <a:xfrm>
            <a:off x="8229600" y="45720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6"/>
          <p:cNvSpPr txBox="1"/>
          <p:nvPr/>
        </p:nvSpPr>
        <p:spPr>
          <a:xfrm>
            <a:off x="8229600" y="48006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Horarios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6"/>
          <p:cNvSpPr txBox="1"/>
          <p:nvPr/>
        </p:nvSpPr>
        <p:spPr>
          <a:xfrm>
            <a:off x="8229600" y="525780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Configuración de franjas horarias del club aplicadas a todas las pistas.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07 / 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 txBox="1"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06  ·  ARQUITECTURA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7"/>
          <p:cNvSpPr txBox="1"/>
          <p:nvPr/>
        </p:nvSpPr>
        <p:spPr>
          <a:xfrm>
            <a:off x="731520" y="1097280"/>
            <a:ext cx="10058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11182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Un sistema en tres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1" lang="en-US" sz="36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capas independientes.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731520" y="3657600"/>
            <a:ext cx="3200400" cy="1828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731520" y="3657600"/>
            <a:ext cx="365760" cy="19050"/>
          </a:xfrm>
          <a:prstGeom prst="rect">
            <a:avLst/>
          </a:prstGeom>
          <a:solidFill>
            <a:srgbClr val="0B21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 txBox="1"/>
          <p:nvPr/>
        </p:nvSpPr>
        <p:spPr>
          <a:xfrm>
            <a:off x="960120" y="3886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FRONTEND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7"/>
          <p:cNvSpPr txBox="1"/>
          <p:nvPr/>
        </p:nvSpPr>
        <p:spPr>
          <a:xfrm>
            <a:off x="960095" y="4370065"/>
            <a:ext cx="320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1" lang="en-US" sz="22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Angular 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7"/>
          <p:cNvSpPr txBox="1"/>
          <p:nvPr/>
        </p:nvSpPr>
        <p:spPr>
          <a:xfrm>
            <a:off x="3977640" y="44348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4297680" y="3657600"/>
            <a:ext cx="3200400" cy="1828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4297680" y="3657600"/>
            <a:ext cx="365760" cy="19050"/>
          </a:xfrm>
          <a:prstGeom prst="rect">
            <a:avLst/>
          </a:prstGeom>
          <a:solidFill>
            <a:srgbClr val="0B21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 txBox="1"/>
          <p:nvPr/>
        </p:nvSpPr>
        <p:spPr>
          <a:xfrm>
            <a:off x="4526280" y="3886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BACKEND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7"/>
          <p:cNvSpPr txBox="1"/>
          <p:nvPr/>
        </p:nvSpPr>
        <p:spPr>
          <a:xfrm>
            <a:off x="4503430" y="4343390"/>
            <a:ext cx="320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1" lang="en-US" sz="22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Spring Boot 4.0.3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7"/>
          <p:cNvSpPr txBox="1"/>
          <p:nvPr/>
        </p:nvSpPr>
        <p:spPr>
          <a:xfrm>
            <a:off x="7543800" y="44348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7863840" y="3657600"/>
            <a:ext cx="3200400" cy="1828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7863840" y="3657600"/>
            <a:ext cx="365760" cy="19050"/>
          </a:xfrm>
          <a:prstGeom prst="rect">
            <a:avLst/>
          </a:prstGeom>
          <a:solidFill>
            <a:srgbClr val="0B21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 txBox="1"/>
          <p:nvPr/>
        </p:nvSpPr>
        <p:spPr>
          <a:xfrm>
            <a:off x="8092440" y="3886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7"/>
          <p:cNvSpPr txBox="1"/>
          <p:nvPr/>
        </p:nvSpPr>
        <p:spPr>
          <a:xfrm>
            <a:off x="8046740" y="4343390"/>
            <a:ext cx="320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1" lang="en-US" sz="22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PostgreSQL 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7"/>
          <p:cNvSpPr txBox="1"/>
          <p:nvPr/>
        </p:nvSpPr>
        <p:spPr>
          <a:xfrm>
            <a:off x="731520" y="59436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SERVICIOS EXTERNOS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7"/>
          <p:cNvSpPr txBox="1"/>
          <p:nvPr/>
        </p:nvSpPr>
        <p:spPr>
          <a:xfrm>
            <a:off x="731520" y="626364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Stripe (pagos)   ·   Gmail SMTP (notificaciones por email)   ·   Vercel (frontend)   ·   Render (backend + DB)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08 / 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8"/>
          <p:cNvSpPr/>
          <p:nvPr/>
        </p:nvSpPr>
        <p:spPr>
          <a:xfrm>
            <a:off x="15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6858000" y="0"/>
            <a:ext cx="5333700" cy="6858000"/>
          </a:xfrm>
          <a:prstGeom prst="rect">
            <a:avLst/>
          </a:prstGeom>
          <a:solidFill>
            <a:srgbClr val="0B21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· 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 txBox="1"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06  ·  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8"/>
          <p:cNvSpPr txBox="1"/>
          <p:nvPr/>
        </p:nvSpPr>
        <p:spPr>
          <a:xfrm>
            <a:off x="731520" y="1097280"/>
            <a:ext cx="6400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11182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Las tecnologías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1" lang="en-US" sz="42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elegidas.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8"/>
          <p:cNvSpPr txBox="1"/>
          <p:nvPr/>
        </p:nvSpPr>
        <p:spPr>
          <a:xfrm>
            <a:off x="731520" y="32918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B2118"/>
                </a:solidFill>
                <a:latin typeface="Inter"/>
                <a:ea typeface="Inter"/>
                <a:cs typeface="Inter"/>
                <a:sym typeface="Inter"/>
              </a:rPr>
              <a:t>FRONTEND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8"/>
          <p:cNvSpPr txBox="1"/>
          <p:nvPr/>
        </p:nvSpPr>
        <p:spPr>
          <a:xfrm>
            <a:off x="731520" y="3703320"/>
            <a:ext cx="5486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·  Angular 21 (standalone components)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8"/>
          <p:cNvSpPr txBox="1"/>
          <p:nvPr/>
        </p:nvSpPr>
        <p:spPr>
          <a:xfrm>
            <a:off x="731520" y="4275673"/>
            <a:ext cx="5486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·  TypeScript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8"/>
          <p:cNvSpPr txBox="1"/>
          <p:nvPr/>
        </p:nvSpPr>
        <p:spPr>
          <a:xfrm>
            <a:off x="731520" y="4592000"/>
            <a:ext cx="5486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·  Tailwind CSS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8"/>
          <p:cNvSpPr txBox="1"/>
          <p:nvPr/>
        </p:nvSpPr>
        <p:spPr>
          <a:xfrm>
            <a:off x="731520" y="4908327"/>
            <a:ext cx="5486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·  Signals + template-driven forms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8"/>
          <p:cNvSpPr txBox="1"/>
          <p:nvPr/>
        </p:nvSpPr>
        <p:spPr>
          <a:xfrm>
            <a:off x="7315200" y="32918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BACKEND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8"/>
          <p:cNvSpPr txBox="1"/>
          <p:nvPr/>
        </p:nvSpPr>
        <p:spPr>
          <a:xfrm>
            <a:off x="7315200" y="3703320"/>
            <a:ext cx="4572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·  Spring Boot 4.0.3 (Java 21)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8"/>
          <p:cNvSpPr txBox="1"/>
          <p:nvPr/>
        </p:nvSpPr>
        <p:spPr>
          <a:xfrm>
            <a:off x="7315200" y="3995928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·  Spring Security + JWT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8"/>
          <p:cNvSpPr txBox="1"/>
          <p:nvPr/>
        </p:nvSpPr>
        <p:spPr>
          <a:xfrm>
            <a:off x="7315200" y="4581144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·  Flyway (migraciones SQL)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8"/>
          <p:cNvSpPr txBox="1"/>
          <p:nvPr/>
        </p:nvSpPr>
        <p:spPr>
          <a:xfrm>
            <a:off x="7315200" y="487375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·  Bucket4j (rate limiting)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8"/>
          <p:cNvSpPr txBox="1"/>
          <p:nvPr/>
        </p:nvSpPr>
        <p:spPr>
          <a:xfrm>
            <a:off x="7315200" y="51663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·  Stripe Java SDK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8"/>
          <p:cNvSpPr txBox="1"/>
          <p:nvPr/>
        </p:nvSpPr>
        <p:spPr>
          <a:xfrm>
            <a:off x="7315200" y="545896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·  JavaMail (SMTP)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8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09 / 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8"/>
          <p:cNvSpPr txBox="1"/>
          <p:nvPr/>
        </p:nvSpPr>
        <p:spPr>
          <a:xfrm>
            <a:off x="7315200" y="4288531"/>
            <a:ext cx="4572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·  Estructura por capas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8"/>
          <p:cNvSpPr txBox="1"/>
          <p:nvPr/>
        </p:nvSpPr>
        <p:spPr>
          <a:xfrm>
            <a:off x="731520" y="5224668"/>
            <a:ext cx="5486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·  </a:t>
            </a:r>
            <a:r>
              <a:rPr lang="en-US" sz="12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Optimizador de imágenes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8"/>
          <p:cNvSpPr txBox="1"/>
          <p:nvPr/>
        </p:nvSpPr>
        <p:spPr>
          <a:xfrm>
            <a:off x="731520" y="3959330"/>
            <a:ext cx="5486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·  </a:t>
            </a:r>
            <a:r>
              <a:rPr lang="en-US" sz="12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Lazy loading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 txBox="1"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07  ·  INFRAESTRUCTURA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9"/>
          <p:cNvSpPr txBox="1"/>
          <p:nvPr/>
        </p:nvSpPr>
        <p:spPr>
          <a:xfrm>
            <a:off x="731520" y="1097280"/>
            <a:ext cx="10058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11182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Despliegue moderno,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1" lang="en-US" sz="36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CI/CD continuo.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731520" y="3383280"/>
            <a:ext cx="2606040" cy="21031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731520" y="3383280"/>
            <a:ext cx="365760" cy="19050"/>
          </a:xfrm>
          <a:prstGeom prst="rect">
            <a:avLst/>
          </a:prstGeom>
          <a:solidFill>
            <a:srgbClr val="0B21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 txBox="1"/>
          <p:nvPr/>
        </p:nvSpPr>
        <p:spPr>
          <a:xfrm>
            <a:off x="960120" y="3657600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Vercel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9"/>
          <p:cNvSpPr txBox="1"/>
          <p:nvPr/>
        </p:nvSpPr>
        <p:spPr>
          <a:xfrm>
            <a:off x="960120" y="4297680"/>
            <a:ext cx="2148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Frontend Angular SPA (Client-Side rendering)</a:t>
            </a:r>
            <a:b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Deploy automático en push</a:t>
            </a:r>
            <a:b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CDN global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3520440" y="3383280"/>
            <a:ext cx="2606040" cy="21031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3520440" y="3383280"/>
            <a:ext cx="365760" cy="19050"/>
          </a:xfrm>
          <a:prstGeom prst="rect">
            <a:avLst/>
          </a:prstGeom>
          <a:solidFill>
            <a:srgbClr val="0B21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 txBox="1"/>
          <p:nvPr/>
        </p:nvSpPr>
        <p:spPr>
          <a:xfrm>
            <a:off x="3749040" y="3657600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Render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9"/>
          <p:cNvSpPr txBox="1"/>
          <p:nvPr/>
        </p:nvSpPr>
        <p:spPr>
          <a:xfrm>
            <a:off x="3749040" y="4297680"/>
            <a:ext cx="21489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Backend Spring Boot</a:t>
            </a:r>
            <a:b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Docker + Java 21</a:t>
            </a:r>
            <a:b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Variables de entorno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6309360" y="3383280"/>
            <a:ext cx="2606040" cy="21031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6309360" y="3383280"/>
            <a:ext cx="365760" cy="19050"/>
          </a:xfrm>
          <a:prstGeom prst="rect">
            <a:avLst/>
          </a:prstGeom>
          <a:solidFill>
            <a:srgbClr val="0B21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 txBox="1"/>
          <p:nvPr/>
        </p:nvSpPr>
        <p:spPr>
          <a:xfrm>
            <a:off x="6537960" y="3657600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PostgreSQL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9"/>
          <p:cNvSpPr txBox="1"/>
          <p:nvPr/>
        </p:nvSpPr>
        <p:spPr>
          <a:xfrm>
            <a:off x="6537960" y="4297680"/>
            <a:ext cx="2148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BD gestionada en Render</a:t>
            </a:r>
            <a:b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Migraciones Flyway</a:t>
            </a:r>
            <a:b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9098280" y="3383280"/>
            <a:ext cx="2606040" cy="21031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9098280" y="3383280"/>
            <a:ext cx="365760" cy="19050"/>
          </a:xfrm>
          <a:prstGeom prst="rect">
            <a:avLst/>
          </a:prstGeom>
          <a:solidFill>
            <a:srgbClr val="0B21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 txBox="1"/>
          <p:nvPr/>
        </p:nvSpPr>
        <p:spPr>
          <a:xfrm>
            <a:off x="9326880" y="3657600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Docker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9"/>
          <p:cNvSpPr txBox="1"/>
          <p:nvPr/>
        </p:nvSpPr>
        <p:spPr>
          <a:xfrm>
            <a:off x="9326880" y="4297680"/>
            <a:ext cx="2148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Entorno de desarrollo</a:t>
            </a:r>
            <a:b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docker-compose unificado</a:t>
            </a:r>
            <a:b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Reproducible y aislado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9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10 / 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B21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10698480" y="868680"/>
            <a:ext cx="77724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 txBox="1"/>
          <p:nvPr/>
        </p:nvSpPr>
        <p:spPr>
          <a:xfrm>
            <a:off x="548640" y="6400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08  ·  SEGURIDAD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0"/>
          <p:cNvSpPr txBox="1"/>
          <p:nvPr/>
        </p:nvSpPr>
        <p:spPr>
          <a:xfrm>
            <a:off x="548640" y="2500780"/>
            <a:ext cx="457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Seguridad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1" lang="en-US" sz="4000" u="none" cap="none" strike="noStrike">
                <a:solidFill>
                  <a:srgbClr val="B8975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profunda.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0"/>
          <p:cNvSpPr txBox="1"/>
          <p:nvPr/>
        </p:nvSpPr>
        <p:spPr>
          <a:xfrm>
            <a:off x="5486400" y="822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MEDIDAS APLICADAS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0"/>
          <p:cNvSpPr txBox="1"/>
          <p:nvPr/>
        </p:nvSpPr>
        <p:spPr>
          <a:xfrm>
            <a:off x="5486400" y="137160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Autenticación JWT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0"/>
          <p:cNvSpPr txBox="1"/>
          <p:nvPr/>
        </p:nvSpPr>
        <p:spPr>
          <a:xfrm>
            <a:off x="5486400" y="1691640"/>
            <a:ext cx="6400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Tokens HS256 firmados, expiración 24h, validación contra BD.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0"/>
          <p:cNvSpPr txBox="1"/>
          <p:nvPr/>
        </p:nvSpPr>
        <p:spPr>
          <a:xfrm>
            <a:off x="5486400" y="2243055"/>
            <a:ext cx="6400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BCrypt 10 rounds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0"/>
          <p:cNvSpPr txBox="1"/>
          <p:nvPr/>
        </p:nvSpPr>
        <p:spPr>
          <a:xfrm>
            <a:off x="5486400" y="2563095"/>
            <a:ext cx="6400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Hash de contraseñas con sal aleatoria. Mínimo 8 caracteres.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0"/>
          <p:cNvSpPr txBox="1"/>
          <p:nvPr/>
        </p:nvSpPr>
        <p:spPr>
          <a:xfrm>
            <a:off x="5486400" y="3132860"/>
            <a:ext cx="6400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Rate limiting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0"/>
          <p:cNvSpPr txBox="1"/>
          <p:nvPr/>
        </p:nvSpPr>
        <p:spPr>
          <a:xfrm>
            <a:off x="5486400" y="3452900"/>
            <a:ext cx="6400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Bucket4j por IP en login, registro, recuperación y webhook.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0"/>
          <p:cNvSpPr txBox="1"/>
          <p:nvPr/>
        </p:nvSpPr>
        <p:spPr>
          <a:xfrm>
            <a:off x="5486400" y="4081839"/>
            <a:ext cx="6400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CORS estricto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0"/>
          <p:cNvSpPr txBox="1"/>
          <p:nvPr/>
        </p:nvSpPr>
        <p:spPr>
          <a:xfrm>
            <a:off x="5486400" y="4401879"/>
            <a:ext cx="6400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Lista de orígenes permitidos validada.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0"/>
          <p:cNvSpPr txBox="1"/>
          <p:nvPr/>
        </p:nvSpPr>
        <p:spPr>
          <a:xfrm>
            <a:off x="5486400" y="4948608"/>
            <a:ext cx="6400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Validación bean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0"/>
          <p:cNvSpPr txBox="1"/>
          <p:nvPr/>
        </p:nvSpPr>
        <p:spPr>
          <a:xfrm>
            <a:off x="5486400" y="5268648"/>
            <a:ext cx="6400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DTOs y mensajes de error legibles, sin stack traces.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0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11 / 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 txBox="1"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FLUJO  ·  NOTIFICACIONES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1"/>
          <p:cNvSpPr txBox="1"/>
          <p:nvPr/>
        </p:nvSpPr>
        <p:spPr>
          <a:xfrm>
            <a:off x="731520" y="1097280"/>
            <a:ext cx="10058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12 emails transaccionales,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1" lang="en-US" sz="32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diseño coherente con la marca.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731520" y="3547872"/>
            <a:ext cx="274320" cy="9525"/>
          </a:xfrm>
          <a:prstGeom prst="rect">
            <a:avLst/>
          </a:prstGeom>
          <a:solidFill>
            <a:srgbClr val="B897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 txBox="1"/>
          <p:nvPr/>
        </p:nvSpPr>
        <p:spPr>
          <a:xfrm>
            <a:off x="1097280" y="33832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Bienvenida al alta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3337560" y="3547872"/>
            <a:ext cx="274320" cy="9525"/>
          </a:xfrm>
          <a:prstGeom prst="rect">
            <a:avLst/>
          </a:prstGeom>
          <a:solidFill>
            <a:srgbClr val="B897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1"/>
          <p:cNvSpPr txBox="1"/>
          <p:nvPr/>
        </p:nvSpPr>
        <p:spPr>
          <a:xfrm>
            <a:off x="3703320" y="33832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Recuperar contraseña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5943600" y="3547872"/>
            <a:ext cx="274320" cy="9525"/>
          </a:xfrm>
          <a:prstGeom prst="rect">
            <a:avLst/>
          </a:prstGeom>
          <a:solidFill>
            <a:srgbClr val="B897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 txBox="1"/>
          <p:nvPr/>
        </p:nvSpPr>
        <p:spPr>
          <a:xfrm>
            <a:off x="6309360" y="33832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Reserva confirmada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8549640" y="3547872"/>
            <a:ext cx="274320" cy="9525"/>
          </a:xfrm>
          <a:prstGeom prst="rect">
            <a:avLst/>
          </a:prstGeom>
          <a:solidFill>
            <a:srgbClr val="B897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1"/>
          <p:cNvSpPr txBox="1"/>
          <p:nvPr/>
        </p:nvSpPr>
        <p:spPr>
          <a:xfrm>
            <a:off x="8915400" y="33832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Reserva cancelada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731520" y="4279392"/>
            <a:ext cx="274320" cy="9525"/>
          </a:xfrm>
          <a:prstGeom prst="rect">
            <a:avLst/>
          </a:prstGeom>
          <a:solidFill>
            <a:srgbClr val="B897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1"/>
          <p:cNvSpPr txBox="1"/>
          <p:nvPr/>
        </p:nvSpPr>
        <p:spPr>
          <a:xfrm>
            <a:off x="1097280" y="41148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Cancelación por mantenimiento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3337560" y="4279392"/>
            <a:ext cx="274320" cy="9525"/>
          </a:xfrm>
          <a:prstGeom prst="rect">
            <a:avLst/>
          </a:prstGeom>
          <a:solidFill>
            <a:srgbClr val="B897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1"/>
          <p:cNvSpPr txBox="1"/>
          <p:nvPr/>
        </p:nvSpPr>
        <p:spPr>
          <a:xfrm>
            <a:off x="3703320" y="41148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Inscripción a evento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5943600" y="4279392"/>
            <a:ext cx="274320" cy="9525"/>
          </a:xfrm>
          <a:prstGeom prst="rect">
            <a:avLst/>
          </a:prstGeom>
          <a:solidFill>
            <a:srgbClr val="B897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 txBox="1"/>
          <p:nvPr/>
        </p:nvSpPr>
        <p:spPr>
          <a:xfrm>
            <a:off x="6309360" y="41148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Baja de evento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8549640" y="4279392"/>
            <a:ext cx="274320" cy="9525"/>
          </a:xfrm>
          <a:prstGeom prst="rect">
            <a:avLst/>
          </a:prstGeom>
          <a:solidFill>
            <a:srgbClr val="B897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1"/>
          <p:cNvSpPr txBox="1"/>
          <p:nvPr/>
        </p:nvSpPr>
        <p:spPr>
          <a:xfrm>
            <a:off x="8915400" y="41148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Nuevo evento publicado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731520" y="5010912"/>
            <a:ext cx="274320" cy="9525"/>
          </a:xfrm>
          <a:prstGeom prst="rect">
            <a:avLst/>
          </a:prstGeom>
          <a:solidFill>
            <a:srgbClr val="B897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1"/>
          <p:cNvSpPr txBox="1"/>
          <p:nvPr/>
        </p:nvSpPr>
        <p:spPr>
          <a:xfrm>
            <a:off x="1097280" y="48463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Suscripción al newsletter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1"/>
          <p:cNvSpPr/>
          <p:nvPr/>
        </p:nvSpPr>
        <p:spPr>
          <a:xfrm>
            <a:off x="3337560" y="5010912"/>
            <a:ext cx="274320" cy="9525"/>
          </a:xfrm>
          <a:prstGeom prst="rect">
            <a:avLst/>
          </a:prstGeom>
          <a:solidFill>
            <a:srgbClr val="B897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1"/>
          <p:cNvSpPr txBox="1"/>
          <p:nvPr/>
        </p:nvSpPr>
        <p:spPr>
          <a:xfrm>
            <a:off x="3703320" y="48463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Baja del newsletter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5943600" y="5010912"/>
            <a:ext cx="274320" cy="9525"/>
          </a:xfrm>
          <a:prstGeom prst="rect">
            <a:avLst/>
          </a:prstGeom>
          <a:solidFill>
            <a:srgbClr val="B897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1"/>
          <p:cNvSpPr txBox="1"/>
          <p:nvPr/>
        </p:nvSpPr>
        <p:spPr>
          <a:xfrm>
            <a:off x="6309360" y="48463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Mensaje de contacto recibido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1"/>
          <p:cNvSpPr/>
          <p:nvPr/>
        </p:nvSpPr>
        <p:spPr>
          <a:xfrm>
            <a:off x="8549640" y="5010912"/>
            <a:ext cx="274320" cy="9525"/>
          </a:xfrm>
          <a:prstGeom prst="rect">
            <a:avLst/>
          </a:prstGeom>
          <a:solidFill>
            <a:srgbClr val="B897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 txBox="1"/>
          <p:nvPr/>
        </p:nvSpPr>
        <p:spPr>
          <a:xfrm>
            <a:off x="8915400" y="48463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Confirmación al usuario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1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12 / 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2"/>
          <p:cNvSpPr txBox="1"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09  ·  APRENDIZAJES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2"/>
          <p:cNvSpPr txBox="1"/>
          <p:nvPr/>
        </p:nvSpPr>
        <p:spPr>
          <a:xfrm>
            <a:off x="731520" y="1097280"/>
            <a:ext cx="10058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11182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Lo que nos llevamos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1" lang="en-US" sz="42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del proyecto.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2"/>
          <p:cNvSpPr txBox="1"/>
          <p:nvPr/>
        </p:nvSpPr>
        <p:spPr>
          <a:xfrm>
            <a:off x="731520" y="33832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2"/>
          <p:cNvSpPr txBox="1"/>
          <p:nvPr/>
        </p:nvSpPr>
        <p:spPr>
          <a:xfrm>
            <a:off x="1371600" y="3383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Trabajo en equipo full-stack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2"/>
          <p:cNvSpPr txBox="1"/>
          <p:nvPr/>
        </p:nvSpPr>
        <p:spPr>
          <a:xfrm>
            <a:off x="5029200" y="3429000"/>
            <a:ext cx="5760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Coordinar dos personas en un mismo producto: separar responsabilidades, integrar diariamente y mantener una visión común del producto.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2"/>
          <p:cNvSpPr txBox="1"/>
          <p:nvPr/>
        </p:nvSpPr>
        <p:spPr>
          <a:xfrm>
            <a:off x="731520" y="4160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2"/>
          <p:cNvSpPr txBox="1"/>
          <p:nvPr/>
        </p:nvSpPr>
        <p:spPr>
          <a:xfrm>
            <a:off x="1371600" y="41605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Diseño centrado en producto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2"/>
          <p:cNvSpPr txBox="1"/>
          <p:nvPr/>
        </p:nvSpPr>
        <p:spPr>
          <a:xfrm>
            <a:off x="5029200" y="4206240"/>
            <a:ext cx="5760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Construir una experiencia visual coherente y premium, decisiones de UX basadas en la identidad de marca.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2"/>
          <p:cNvSpPr txBox="1"/>
          <p:nvPr/>
        </p:nvSpPr>
        <p:spPr>
          <a:xfrm>
            <a:off x="731520" y="49377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2"/>
          <p:cNvSpPr txBox="1"/>
          <p:nvPr/>
        </p:nvSpPr>
        <p:spPr>
          <a:xfrm>
            <a:off x="1371600" y="49377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Integración real con terceros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2"/>
          <p:cNvSpPr txBox="1"/>
          <p:nvPr/>
        </p:nvSpPr>
        <p:spPr>
          <a:xfrm>
            <a:off x="5029200" y="4983480"/>
            <a:ext cx="5760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Trabajar con Stripe, webhooks, idempotencia y reembolsos automáticos en producción enseña tanto como un curso entero.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2"/>
          <p:cNvSpPr txBox="1"/>
          <p:nvPr/>
        </p:nvSpPr>
        <p:spPr>
          <a:xfrm>
            <a:off x="731520" y="57150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2"/>
          <p:cNvSpPr txBox="1"/>
          <p:nvPr/>
        </p:nvSpPr>
        <p:spPr>
          <a:xfrm>
            <a:off x="1371600" y="57150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Seguridad práctica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2"/>
          <p:cNvSpPr txBox="1"/>
          <p:nvPr/>
        </p:nvSpPr>
        <p:spPr>
          <a:xfrm>
            <a:off x="5029200" y="5760720"/>
            <a:ext cx="5760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Auditoría propia del backend: identificación de vulnerabilidades reales y corrección antes del despliegue.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2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13 / 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B21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3"/>
          <p:cNvSpPr txBox="1"/>
          <p:nvPr/>
        </p:nvSpPr>
        <p:spPr>
          <a:xfrm>
            <a:off x="914400" y="640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FUTURO  ·  ROADMAP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3"/>
          <p:cNvSpPr txBox="1"/>
          <p:nvPr/>
        </p:nvSpPr>
        <p:spPr>
          <a:xfrm>
            <a:off x="914400" y="1097280"/>
            <a:ext cx="10058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11182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Mejoras a futuro</a:t>
            </a:r>
            <a:r>
              <a:rPr b="0" i="1" lang="en-US" sz="42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3"/>
          <p:cNvSpPr/>
          <p:nvPr/>
        </p:nvSpPr>
        <p:spPr>
          <a:xfrm>
            <a:off x="914400" y="3547872"/>
            <a:ext cx="274320" cy="9525"/>
          </a:xfrm>
          <a:prstGeom prst="rect">
            <a:avLst/>
          </a:prstGeom>
          <a:solidFill>
            <a:srgbClr val="B897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3"/>
          <p:cNvSpPr txBox="1"/>
          <p:nvPr/>
        </p:nvSpPr>
        <p:spPr>
          <a:xfrm>
            <a:off x="1371600" y="338328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Verificación de email al registro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3"/>
          <p:cNvSpPr txBox="1"/>
          <p:nvPr/>
        </p:nvSpPr>
        <p:spPr>
          <a:xfrm>
            <a:off x="5943600" y="34290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Doble opt-in con token único antes de activar la cuenta.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914400" y="4142232"/>
            <a:ext cx="274320" cy="9525"/>
          </a:xfrm>
          <a:prstGeom prst="rect">
            <a:avLst/>
          </a:prstGeom>
          <a:solidFill>
            <a:srgbClr val="B897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3"/>
          <p:cNvSpPr txBox="1"/>
          <p:nvPr/>
        </p:nvSpPr>
        <p:spPr>
          <a:xfrm>
            <a:off x="1371600" y="397764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App móvil nativa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3"/>
          <p:cNvSpPr txBox="1"/>
          <p:nvPr/>
        </p:nvSpPr>
        <p:spPr>
          <a:xfrm>
            <a:off x="5943600" y="40233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React Native o Flutter consumiendo la misma API REST.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3"/>
          <p:cNvSpPr/>
          <p:nvPr/>
        </p:nvSpPr>
        <p:spPr>
          <a:xfrm>
            <a:off x="914400" y="4736592"/>
            <a:ext cx="274320" cy="9525"/>
          </a:xfrm>
          <a:prstGeom prst="rect">
            <a:avLst/>
          </a:prstGeom>
          <a:solidFill>
            <a:srgbClr val="B897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3"/>
          <p:cNvSpPr txBox="1"/>
          <p:nvPr/>
        </p:nvSpPr>
        <p:spPr>
          <a:xfrm>
            <a:off x="1371600" y="457200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Pagos recurrentes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3"/>
          <p:cNvSpPr txBox="1"/>
          <p:nvPr/>
        </p:nvSpPr>
        <p:spPr>
          <a:xfrm>
            <a:off x="5943600" y="461772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Cuotas mensuales de socio con Stripe Subscriptions.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3"/>
          <p:cNvSpPr/>
          <p:nvPr/>
        </p:nvSpPr>
        <p:spPr>
          <a:xfrm>
            <a:off x="914400" y="5330952"/>
            <a:ext cx="274320" cy="9525"/>
          </a:xfrm>
          <a:prstGeom prst="rect">
            <a:avLst/>
          </a:prstGeom>
          <a:solidFill>
            <a:srgbClr val="B897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3"/>
          <p:cNvSpPr txBox="1"/>
          <p:nvPr/>
        </p:nvSpPr>
        <p:spPr>
          <a:xfrm>
            <a:off x="1371600" y="516636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Analítica para el club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3"/>
          <p:cNvSpPr txBox="1"/>
          <p:nvPr/>
        </p:nvSpPr>
        <p:spPr>
          <a:xfrm>
            <a:off x="5943600" y="521208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Dashboard con KPIs: ocupación, ingresos, retención de socios.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3"/>
          <p:cNvSpPr/>
          <p:nvPr/>
        </p:nvSpPr>
        <p:spPr>
          <a:xfrm>
            <a:off x="914400" y="5925312"/>
            <a:ext cx="274320" cy="9525"/>
          </a:xfrm>
          <a:prstGeom prst="rect">
            <a:avLst/>
          </a:prstGeom>
          <a:solidFill>
            <a:srgbClr val="B897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3"/>
          <p:cNvSpPr txBox="1"/>
          <p:nvPr/>
        </p:nvSpPr>
        <p:spPr>
          <a:xfrm>
            <a:off x="1371600" y="5760720"/>
            <a:ext cx="411480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0B211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Chat bot para la creación de rutinas</a:t>
            </a:r>
            <a:endParaRPr b="0" i="1" sz="1500" u="none" cap="none" strike="noStrike">
              <a:solidFill>
                <a:srgbClr val="0B2118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10" name="Google Shape;410;p13"/>
          <p:cNvSpPr txBox="1"/>
          <p:nvPr/>
        </p:nvSpPr>
        <p:spPr>
          <a:xfrm>
            <a:off x="5943600" y="5806440"/>
            <a:ext cx="5486400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Facilitar al cliente una rutina personalizada y adaptada a su gusto.</a:t>
            </a:r>
            <a:endParaRPr b="0" i="0" sz="1100" u="none" cap="none" strike="noStrike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1" name="Google Shape;411;p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14 / 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1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4"/>
          <p:cNvSpPr txBox="1"/>
          <p:nvPr/>
        </p:nvSpPr>
        <p:spPr>
          <a:xfrm>
            <a:off x="731520" y="54864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OASIS</a:t>
            </a:r>
            <a:r>
              <a:rPr b="1" i="0" lang="en-US" sz="20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CLUB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4"/>
          <p:cNvSpPr/>
          <p:nvPr/>
        </p:nvSpPr>
        <p:spPr>
          <a:xfrm>
            <a:off x="731520" y="1280160"/>
            <a:ext cx="548640" cy="9525"/>
          </a:xfrm>
          <a:prstGeom prst="rect">
            <a:avLst/>
          </a:prstGeom>
          <a:solidFill>
            <a:srgbClr val="B897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4"/>
          <p:cNvSpPr txBox="1"/>
          <p:nvPr/>
        </p:nvSpPr>
        <p:spPr>
          <a:xfrm>
            <a:off x="731520" y="2103120"/>
            <a:ext cx="10058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0"/>
              <a:buFont typeface="Arial"/>
              <a:buNone/>
            </a:pPr>
            <a:r>
              <a:rPr b="0" i="1" lang="en-US" sz="13000" u="none" cap="none" strike="noStrike">
                <a:solidFill>
                  <a:srgbClr val="B8975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Gracias.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4"/>
          <p:cNvSpPr txBox="1"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rgbClr val="FAFA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¿Preguntas?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4"/>
          <p:cNvSpPr txBox="1"/>
          <p:nvPr/>
        </p:nvSpPr>
        <p:spPr>
          <a:xfrm>
            <a:off x="731520" y="56692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DEMO EN VIVO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4"/>
          <p:cNvSpPr txBox="1"/>
          <p:nvPr/>
        </p:nvSpPr>
        <p:spPr>
          <a:xfrm>
            <a:off x="731520" y="59893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tfg-mocha.vercel.app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4"/>
          <p:cNvSpPr txBox="1"/>
          <p:nvPr/>
        </p:nvSpPr>
        <p:spPr>
          <a:xfrm>
            <a:off x="6400800" y="56692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B8975A"/>
                </a:solidFill>
                <a:latin typeface="Inter"/>
                <a:ea typeface="Inter"/>
                <a:cs typeface="Inter"/>
                <a:sym typeface="Inter"/>
              </a:rPr>
              <a:t>REPOSITORIO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4"/>
          <p:cNvSpPr txBox="1"/>
          <p:nvPr/>
        </p:nvSpPr>
        <p:spPr>
          <a:xfrm>
            <a:off x="6400800" y="5989320"/>
            <a:ext cx="548640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github.com/alvarofgs/TFG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